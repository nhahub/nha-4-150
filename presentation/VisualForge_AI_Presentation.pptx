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tabilityai/stable-diffusion-xl-base-1.0" TargetMode="External"/><Relationship Id="rId3" Type="http://schemas.openxmlformats.org/officeDocument/2006/relationships/hyperlink" Target="https://huggingface.co/docs/diffusers/en/api/pipelines/stable_diffusion/stable_diffusion_xl" TargetMode="External"/><Relationship Id="rId4" Type="http://schemas.openxmlformats.org/officeDocument/2006/relationships/hyperlink" Target="https://huggingface.co/docs/diffusers/en/api/pipelines/stable_diffusion/stable_diffusion_xl" TargetMode="External"/><Relationship Id="rId5" Type="http://schemas.openxmlformats.org/officeDocument/2006/relationships/hyperlink" Target="https://huggingface.co/docs/diffusers/en/api/pipelines/stable_diffusion/stable_diffusion_xl" TargetMode="External"/><Relationship Id="rId6" Type="http://schemas.openxmlformats.org/officeDocument/2006/relationships/hyperlink" Target="https://huggingface.co/docs/diffusers/en/training/lora" TargetMode="External"/><Relationship Id="rId1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ashraq/fashion-product-images-small" TargetMode="External"/><Relationship Id="rId3" Type="http://schemas.openxmlformats.org/officeDocument/2006/relationships/hyperlink" Target="https://huggingface.co/datasets/IMATOR/Ancient_Egyptians_model" TargetMode="Externa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tabilityai/stable-diffusion-xl-base-1.0" TargetMode="External"/><Relationship Id="rId3" Type="http://schemas.openxmlformats.org/officeDocument/2006/relationships/hyperlink" Target="https://huggingface.co/docs/diffusers/en/api/pipelines/stable_diffusion/stable_diffusion_xl" TargetMode="External"/><Relationship Id="rId4" Type="http://schemas.openxmlformats.org/officeDocument/2006/relationships/hyperlink" Target="https://huggingface.co/docs/diffusers/en/training/lora" TargetMode="External"/><Relationship Id="rId5" Type="http://schemas.openxmlformats.org/officeDocument/2006/relationships/hyperlink" Target="https://huggingface.co/datasets/ashraq/fashion-product-images-small" TargetMode="External"/><Relationship Id="rId6" Type="http://schemas.openxmlformats.org/officeDocument/2006/relationships/hyperlink" Target="https://huggingface.co/datasets/IMATOR/Ancient_Egyptians_model" TargetMode="External"/><Relationship Id="rId1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4" name="Image 0" descr="/mnt/data/visualforge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1143000"/>
            <a:ext cx="4434840" cy="1444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8BDF8"/>
                </a:solidFill>
              </a:rPr>
              <a:t>ACADEMIC PROJECT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An End-to-End AI Visual Content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Generation Studio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8FAFC"/>
                </a:solidFill>
              </a:rPr>
              <a:t>VisualForge AI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3840480" cy="0"/>
          </a:xfrm>
          <a:prstGeom prst="line">
            <a:avLst/>
          </a:prstGeom>
          <a:noFill/>
          <a:ln w="1651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8B5CF6"/>
                </a:solidFill>
              </a:rPr>
              <a:t>Team Members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594360" y="35661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511296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Basel Abdel Maqsoud Abdel Maqsoud Ziada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594360" y="385876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803904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Sherif Mohamed Hassan Mohamed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594360" y="415137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096512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Ahmed Gaber Ahmed Elsadek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594360" y="444398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389120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Youssef Ahmed Mohammed Saed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548640" y="5074920"/>
            <a:ext cx="2148840" cy="210312"/>
          </a:xfrm>
          <a:prstGeom prst="roundRect">
            <a:avLst>
              <a:gd name="adj" fmla="val 26087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11606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01F"/>
                </a:solidFill>
              </a:rPr>
              <a:t>SDXL • LoRA • Gradio Demo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1631168" y="6382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STARTING POINT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The Problem We Wanted to Solve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02920" y="969264"/>
            <a:ext cx="10149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AI image generation is powerful, but a useful academic system needs more than one prompt box. It should support generation, editing, specialization, testing, and saved outputs in one practical flow.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993392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0312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111F"/>
                </a:solidFill>
              </a:rPr>
              <a:t>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31520" y="2587752"/>
            <a:ext cx="1874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Generic outputs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2880360"/>
            <a:ext cx="1874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Models often ignore the brand, domain, or cultural direction.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46120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993392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210312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111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383280" y="2587752"/>
            <a:ext cx="1874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Fragmented tools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83280" y="2880360"/>
            <a:ext cx="1874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Text generation, image editing, LoRA, and gallery are usually separated.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97880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993392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210312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111F"/>
                </a:solidFill>
              </a:rPr>
              <a:t>3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035040" y="2587752"/>
            <a:ext cx="1874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Limited editing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35040" y="2880360"/>
            <a:ext cx="1874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A practical visual studio needs img2img and inpainting, not text-to-image only.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549640" y="18288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0" y="199339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0" y="210312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111F"/>
                </a:solidFill>
              </a:rPr>
              <a:t>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686800" y="2587752"/>
            <a:ext cx="1874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No domain memory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686800" y="2880360"/>
            <a:ext cx="1874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Repeated prompts are not enough when a specific visual style is required.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143000" y="4663440"/>
            <a:ext cx="9875520" cy="731520"/>
          </a:xfrm>
          <a:prstGeom prst="roundRect">
            <a:avLst>
              <a:gd name="adj" fmla="val 10000"/>
            </a:avLst>
          </a:prstGeom>
          <a:solidFill>
            <a:srgbClr val="0B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17320" y="491947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Design insight: the real value is a single workflow that combines generation + editing + domain-specific adaptation.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RESEARCH OBJECTIVE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Project Goal &amp; Success Criteria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85800" y="10972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0B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0817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Build a complete AI-powered visual generation studio that can generate, transform, and edit images while supporting specialized domains through LoRA fine-tuning.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27432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00200" y="297180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308152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11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Generate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Text-to-image from natural language prompts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566160" y="27432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29718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308152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11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9476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Transform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94760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Image-to-image refinement and redesign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355080" y="27432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78040" y="29718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308152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11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Edit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83680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Inpainting to replace selected image areas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144000" y="27432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966960" y="29718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66960" y="308152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11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37260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Specialize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72600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LoRA adapters for domain-specific visuals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05840" y="5230368"/>
            <a:ext cx="10149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Success means a working demo that proves the end-to-end journey from user input to AI output, saved results, and domain-aware generation.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PROPOSED SOLUTION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VisualForge AI: The System Concept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04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40080" y="114300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21A2C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17320"/>
            <a:ext cx="4389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 unified visual studio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1874520"/>
            <a:ext cx="44805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B3C7"/>
                </a:solidFill>
              </a:rPr>
              <a:t>VisualForge AI is designed as one place for visual content generation. The user chooses a mode, selects a domain, writes a prompt, and receives a generated output that can be previewed, saved, or downloaded.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87552" y="315468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3090672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AFC"/>
                </a:solidFill>
              </a:rPr>
              <a:t>Three AI modes in one interface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987552" y="350215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3438144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AFC"/>
                </a:solidFill>
              </a:rPr>
              <a:t>Base SDXL for general generation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987552" y="38496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3785616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AFC"/>
                </a:solidFill>
              </a:rPr>
              <a:t>LoRA adapters for selected domains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987552" y="4197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133088"/>
            <a:ext cx="4297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AFC"/>
                </a:solidFill>
              </a:rPr>
              <a:t>Gallery for saved outputs and review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6400800" y="114300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081326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1" name="Image 1" descr="/mnt/data/visualforge_logo_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72768"/>
            <a:ext cx="4343400" cy="14173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903720" y="3291840"/>
            <a:ext cx="1417320" cy="210312"/>
          </a:xfrm>
          <a:prstGeom prst="roundRect">
            <a:avLst>
              <a:gd name="adj" fmla="val 26087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33329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Text-to-Image</a:t>
            </a:r>
            <a:endParaRPr lang="en-US" sz="680" dirty="0"/>
          </a:p>
        </p:txBody>
      </p:sp>
      <p:sp>
        <p:nvSpPr>
          <p:cNvPr id="24" name="Shape 20"/>
          <p:cNvSpPr/>
          <p:nvPr/>
        </p:nvSpPr>
        <p:spPr>
          <a:xfrm>
            <a:off x="8366760" y="3291840"/>
            <a:ext cx="1508760" cy="210312"/>
          </a:xfrm>
          <a:prstGeom prst="roundRect">
            <a:avLst>
              <a:gd name="adj" fmla="val 26087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412480" y="33329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Image-to-Image</a:t>
            </a:r>
            <a:endParaRPr lang="en-US" sz="680" dirty="0"/>
          </a:p>
        </p:txBody>
      </p:sp>
      <p:sp>
        <p:nvSpPr>
          <p:cNvPr id="26" name="Shape 22"/>
          <p:cNvSpPr/>
          <p:nvPr/>
        </p:nvSpPr>
        <p:spPr>
          <a:xfrm>
            <a:off x="9966960" y="3291840"/>
            <a:ext cx="1143000" cy="210312"/>
          </a:xfrm>
          <a:prstGeom prst="roundRect">
            <a:avLst>
              <a:gd name="adj" fmla="val 26087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12680" y="33329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Inpainting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7818120" y="3886200"/>
            <a:ext cx="1645920" cy="210312"/>
          </a:xfrm>
          <a:prstGeom prst="roundRect">
            <a:avLst>
              <a:gd name="adj" fmla="val 26087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863840" y="392734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LoRA Domains</a:t>
            </a:r>
            <a:endParaRPr lang="en-US" sz="680" dirty="0"/>
          </a:p>
        </p:txBody>
      </p:sp>
      <p:sp>
        <p:nvSpPr>
          <p:cNvPr id="30" name="Text 26"/>
          <p:cNvSpPr/>
          <p:nvPr/>
        </p:nvSpPr>
        <p:spPr>
          <a:xfrm>
            <a:off x="6903720" y="45720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One interface • Multiple AI tasks • Domain-aware output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END-TO-END FLOW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System Workflow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05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2020824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210769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069848" y="2029968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User Input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9848" y="2258568"/>
            <a:ext cx="1216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prompt / image / mask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2377440" y="2542032"/>
            <a:ext cx="457200" cy="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34640" y="187452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44368" y="202082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44368" y="210769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2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401568" y="2029968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Mode Selection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01568" y="2258568"/>
            <a:ext cx="1216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text2img / img2img / inpaint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4709160" y="2542032"/>
            <a:ext cx="457200" cy="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166360" y="187452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76088" y="2020824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6088" y="210769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3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733288" y="2029968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Domain Selection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33288" y="2258568"/>
            <a:ext cx="1216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base / product / culture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7040880" y="2542032"/>
            <a:ext cx="457200" cy="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98080" y="187452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07808" y="202082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07808" y="210769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4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8065008" y="2029968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SDXL + LoRA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65008" y="2258568"/>
            <a:ext cx="1216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base model + adapter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9372600" y="2542032"/>
            <a:ext cx="457200" cy="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829800" y="187452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39528" y="2020824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939528" y="210769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5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10396728" y="2029968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Output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396728" y="2258568"/>
            <a:ext cx="1216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preview / save / download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914400" y="4251960"/>
            <a:ext cx="10378440" cy="777240"/>
          </a:xfrm>
          <a:prstGeom prst="roundRect">
            <a:avLst>
              <a:gd name="adj" fmla="val 9412"/>
            </a:avLst>
          </a:prstGeom>
          <a:solidFill>
            <a:srgbClr val="0D1728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34440" y="4526280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3C7"/>
                </a:solidFill>
              </a:rPr>
              <a:t>The flow was first prototyped in notebooks, then tested through a Gradio interface on Kaggle GPU to avoid local GPU memory and timeout issues.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CORE CAPABILITIES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What the System Supports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731520" y="150876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1783080"/>
            <a:ext cx="2423160" cy="210312"/>
          </a:xfrm>
          <a:prstGeom prst="roundRect">
            <a:avLst>
              <a:gd name="adj" fmla="val 26087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182422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StableDiffusionXLPipeline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5156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Text-to-Image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7B3C7"/>
                </a:solidFill>
              </a:rPr>
              <a:t>Generate images from text prompts.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480560" y="150876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783080"/>
            <a:ext cx="2423160" cy="210312"/>
          </a:xfrm>
          <a:prstGeom prst="roundRect">
            <a:avLst>
              <a:gd name="adj" fmla="val 26087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82422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StableDiffusionXLImg2ImgPipeline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480060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Image-to-Image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0060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7B3C7"/>
                </a:solidFill>
              </a:rPr>
              <a:t>Transform an uploaded image using a prompt.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8229600" y="150876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49640" y="1783080"/>
            <a:ext cx="2423160" cy="210312"/>
          </a:xfrm>
          <a:prstGeom prst="roundRect">
            <a:avLst>
              <a:gd name="adj" fmla="val 26087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182422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StableDiffusionXLInpaintPipeline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854964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Inpainting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4964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7B3C7"/>
                </a:solidFill>
              </a:rPr>
              <a:t>Replace masked regions with guided content.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1005840" y="451713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448056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Domain Selection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154680" y="4480560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7B3C7"/>
                </a:solidFill>
              </a:rPr>
              <a:t>Base / Product Ads / Egyptian Cultural</a:t>
            </a:r>
            <a:endParaRPr lang="en-US" sz="770" dirty="0"/>
          </a:p>
        </p:txBody>
      </p:sp>
      <p:sp>
        <p:nvSpPr>
          <p:cNvPr id="27" name="Shape 24"/>
          <p:cNvSpPr/>
          <p:nvPr/>
        </p:nvSpPr>
        <p:spPr>
          <a:xfrm>
            <a:off x="1005840" y="511149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34440" y="50749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LoRA Fine-Tuning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5074920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7B3C7"/>
                </a:solidFill>
              </a:rPr>
              <a:t>Domain-specific adapters on top of SDXL</a:t>
            </a:r>
            <a:endParaRPr lang="en-US" sz="770" dirty="0"/>
          </a:p>
        </p:txBody>
      </p:sp>
      <p:sp>
        <p:nvSpPr>
          <p:cNvPr id="30" name="Shape 27"/>
          <p:cNvSpPr/>
          <p:nvPr/>
        </p:nvSpPr>
        <p:spPr>
          <a:xfrm>
            <a:off x="6309360" y="45171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448056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Gallery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458200" y="4480560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7B3C7"/>
                </a:solidFill>
              </a:rPr>
              <a:t>Saved outputs and metadata for review</a:t>
            </a:r>
            <a:endParaRPr lang="en-US" sz="770" dirty="0"/>
          </a:p>
        </p:txBody>
      </p:sp>
      <p:sp>
        <p:nvSpPr>
          <p:cNvPr id="33" name="Shape 30"/>
          <p:cNvSpPr/>
          <p:nvPr/>
        </p:nvSpPr>
        <p:spPr>
          <a:xfrm>
            <a:off x="6309360" y="51114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5074920"/>
            <a:ext cx="1600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Download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458200" y="5074920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7B3C7"/>
                </a:solidFill>
              </a:rPr>
              <a:t>Export generated images from interface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MODEL SELECTION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Models &amp; Pipelines Used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07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10789920" cy="4526280"/>
          </a:xfrm>
          <a:prstGeom prst="roundRect">
            <a:avLst>
              <a:gd name="adj" fmla="val 1616"/>
            </a:avLst>
          </a:prstGeom>
          <a:solidFill>
            <a:srgbClr val="121A2C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1508760"/>
            <a:ext cx="1874520" cy="210312"/>
          </a:xfrm>
          <a:prstGeom prst="roundRect">
            <a:avLst>
              <a:gd name="adj" fmla="val 26087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154990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Base model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3154680" y="1527048"/>
            <a:ext cx="29260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Stable Diffusion XL Base 1.0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26480" y="1531620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High-quality latent diffusion backbone</a:t>
            </a:r>
            <a:endParaRPr lang="en-US" sz="880" dirty="0"/>
          </a:p>
        </p:txBody>
      </p:sp>
      <p:sp>
        <p:nvSpPr>
          <p:cNvPr id="14" name="Text 11">
            <a:hlinkClick r:id="rId2" tooltip="Open link"/>
          </p:cNvPr>
          <p:cNvSpPr/>
          <p:nvPr/>
        </p:nvSpPr>
        <p:spPr>
          <a:xfrm>
            <a:off x="9738360" y="15453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2" invalidUrl="" action="" tgtFrame="" tooltip="Open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link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1005840" y="2221992"/>
            <a:ext cx="1874520" cy="210312"/>
          </a:xfrm>
          <a:prstGeom prst="roundRect">
            <a:avLst>
              <a:gd name="adj" fmla="val 26087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2263140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Text-to-Image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154680" y="2240280"/>
            <a:ext cx="29260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StableDiffusionXLPipeline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26480" y="2244852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Prompt → generated image</a:t>
            </a:r>
            <a:endParaRPr lang="en-US" sz="880" dirty="0"/>
          </a:p>
        </p:txBody>
      </p:sp>
      <p:sp>
        <p:nvSpPr>
          <p:cNvPr id="19" name="Text 16">
            <a:hlinkClick r:id="rId3" tooltip="Open link"/>
          </p:cNvPr>
          <p:cNvSpPr/>
          <p:nvPr/>
        </p:nvSpPr>
        <p:spPr>
          <a:xfrm>
            <a:off x="9738360" y="2258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3" invalidUrl="" action="" tgtFrame="" tooltip="Open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link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1005840" y="2935224"/>
            <a:ext cx="1874520" cy="210312"/>
          </a:xfrm>
          <a:prstGeom prst="roundRect">
            <a:avLst>
              <a:gd name="adj" fmla="val 26087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297637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Image-to-Image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3154680" y="2953512"/>
            <a:ext cx="29260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StableDiffusionXLImg2ImgPipeline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126480" y="2958084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Uploaded image + prompt → transformed image</a:t>
            </a:r>
            <a:endParaRPr lang="en-US" sz="880" dirty="0"/>
          </a:p>
        </p:txBody>
      </p:sp>
      <p:sp>
        <p:nvSpPr>
          <p:cNvPr id="24" name="Text 21">
            <a:hlinkClick r:id="rId4" tooltip="Open link"/>
          </p:cNvPr>
          <p:cNvSpPr/>
          <p:nvPr/>
        </p:nvSpPr>
        <p:spPr>
          <a:xfrm>
            <a:off x="9738360" y="29718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4" invalidUrl="" action="" tgtFrame="" tooltip="Open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link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1005840" y="3648456"/>
            <a:ext cx="1874520" cy="210312"/>
          </a:xfrm>
          <a:prstGeom prst="roundRect">
            <a:avLst>
              <a:gd name="adj" fmla="val 26087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3689604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Inpainting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3154680" y="3666744"/>
            <a:ext cx="29260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StableDiffusionXLInpaintPipeline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126480" y="3671316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Image + mask + prompt → edited region</a:t>
            </a:r>
            <a:endParaRPr lang="en-US" sz="880" dirty="0"/>
          </a:p>
        </p:txBody>
      </p:sp>
      <p:sp>
        <p:nvSpPr>
          <p:cNvPr id="29" name="Text 26">
            <a:hlinkClick r:id="rId5" tooltip="Open link"/>
          </p:cNvPr>
          <p:cNvSpPr/>
          <p:nvPr/>
        </p:nvSpPr>
        <p:spPr>
          <a:xfrm>
            <a:off x="9738360" y="36850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5" invalidUrl="" action="" tgtFrame="" tooltip="Open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link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1005840" y="4361688"/>
            <a:ext cx="1874520" cy="210312"/>
          </a:xfrm>
          <a:prstGeom prst="roundRect">
            <a:avLst>
              <a:gd name="adj" fmla="val 26087"/>
            </a:avLst>
          </a:prstGeom>
          <a:solidFill>
            <a:srgbClr val="EF4444">
              <a:alpha val="95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1560" y="4402836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Fine-tuning method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3154680" y="4379976"/>
            <a:ext cx="29260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LoRA adapters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26480" y="4384548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Small domain adapters on top of SDXL</a:t>
            </a:r>
            <a:endParaRPr lang="en-US" sz="880" dirty="0"/>
          </a:p>
        </p:txBody>
      </p:sp>
      <p:sp>
        <p:nvSpPr>
          <p:cNvPr id="34" name="Text 31">
            <a:hlinkClick r:id="rId6" tooltip="Open link"/>
          </p:cNvPr>
          <p:cNvSpPr/>
          <p:nvPr/>
        </p:nvSpPr>
        <p:spPr>
          <a:xfrm>
            <a:off x="9738360" y="43982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6" invalidUrl="" action="" tgtFrame="" tooltip="Open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link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1005840" y="5212080"/>
            <a:ext cx="9966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</a:rPr>
              <a:t>Why SDXL? It supports strong visual quality and can be extended with LoRA adapters for domain specialization.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DOMAIN PLANNING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Proposed Domains vs Fine-Tuned Domains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08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914400" y="1005840"/>
            <a:ext cx="10332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We first proposed several creative directions, then selected two domains with clear visual identity and strong demo value for LoRA fine-tuning.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8288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General / Base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8408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Default SDXL capability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3017520" y="2048256"/>
            <a:ext cx="777240" cy="210312"/>
          </a:xfrm>
          <a:prstGeom prst="roundRect">
            <a:avLst>
              <a:gd name="adj" fmla="val 26087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3240" y="20894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Base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4480560" y="18288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1728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Product Ads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81728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Commercial product visuals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6720840" y="2048256"/>
            <a:ext cx="777240" cy="210312"/>
          </a:xfrm>
          <a:prstGeom prst="roundRect">
            <a:avLst>
              <a:gd name="adj" fmla="val 26087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20894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Fine-tuned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8183880" y="18288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Egyptian Cultural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85048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Cultural heritage visuals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10424160" y="2048256"/>
            <a:ext cx="777240" cy="210312"/>
          </a:xfrm>
          <a:prstGeom prst="roundRect">
            <a:avLst>
              <a:gd name="adj" fmla="val 26087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69880" y="20894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Fine-tuned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777240" y="3127248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8408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78408" y="360273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Interior / exterior concepts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3017520" y="3346704"/>
            <a:ext cx="777240" cy="210312"/>
          </a:xfrm>
          <a:prstGeom prst="roundRect">
            <a:avLst>
              <a:gd name="adj" fmla="val 26087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63240" y="338785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Proposed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480560" y="3127248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81728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Fashion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681728" y="360273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Style and apparel visuals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6720840" y="3346704"/>
            <a:ext cx="777240" cy="210312"/>
          </a:xfrm>
          <a:prstGeom prst="roundRect">
            <a:avLst>
              <a:gd name="adj" fmla="val 26087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0" y="338785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Proposed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8183880" y="3127248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85048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Social Media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385048" y="360273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B3C7"/>
                </a:solidFill>
              </a:rPr>
              <a:t>Campaign-ready content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10424160" y="3346704"/>
            <a:ext cx="777240" cy="210312"/>
          </a:xfrm>
          <a:prstGeom prst="roundRect">
            <a:avLst>
              <a:gd name="adj" fmla="val 26087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469880" y="338785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Proposed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914400" y="498348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0B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43000" y="521208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Selected for LoRA: Product Ads + Egyptian Cultural — both have recognizable visual language and measurable style consistency.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FINE-TUNING DATA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Datasets Used for LoRA Training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09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822960" y="1325880"/>
            <a:ext cx="4937760" cy="4251960"/>
          </a:xfrm>
          <a:prstGeom prst="roundRect">
            <a:avLst>
              <a:gd name="adj" fmla="val 1720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4440" y="1691640"/>
            <a:ext cx="1783080" cy="210312"/>
          </a:xfrm>
          <a:prstGeom prst="roundRect">
            <a:avLst>
              <a:gd name="adj" fmla="val 26087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1732788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Product Ads LoRA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234440" y="22677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DATASET</a:t>
            </a:r>
            <a:endParaRPr lang="en-US" sz="670" dirty="0"/>
          </a:p>
        </p:txBody>
      </p:sp>
      <p:sp>
        <p:nvSpPr>
          <p:cNvPr id="13" name="Text 10"/>
          <p:cNvSpPr/>
          <p:nvPr/>
        </p:nvSpPr>
        <p:spPr>
          <a:xfrm>
            <a:off x="1234440" y="246888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ashraq/fashion-product-images-small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34440" y="2980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USED FOR</a:t>
            </a:r>
            <a:endParaRPr lang="en-US" sz="670" dirty="0"/>
          </a:p>
        </p:txBody>
      </p:sp>
      <p:sp>
        <p:nvSpPr>
          <p:cNvPr id="15" name="Text 12"/>
          <p:cNvSpPr/>
          <p:nvPr/>
        </p:nvSpPr>
        <p:spPr>
          <a:xfrm>
            <a:off x="1234440" y="3191256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7B3C7"/>
                </a:solidFill>
              </a:rPr>
              <a:t>Product-style visual generation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1234440" y="3611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OUTPUT LORA FILE</a:t>
            </a:r>
            <a:endParaRPr lang="en-US" sz="670" dirty="0"/>
          </a:p>
        </p:txBody>
      </p:sp>
      <p:sp>
        <p:nvSpPr>
          <p:cNvPr id="17" name="Text 14"/>
          <p:cNvSpPr/>
          <p:nvPr/>
        </p:nvSpPr>
        <p:spPr>
          <a:xfrm>
            <a:off x="1234440" y="3822192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</a:rPr>
              <a:t>product_ads_lora_300.safetensors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1234440" y="42428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TRIGGER WORD</a:t>
            </a:r>
            <a:endParaRPr lang="en-US" sz="670" dirty="0"/>
          </a:p>
        </p:txBody>
      </p:sp>
      <p:sp>
        <p:nvSpPr>
          <p:cNvPr id="19" name="Text 16"/>
          <p:cNvSpPr/>
          <p:nvPr/>
        </p:nvSpPr>
        <p:spPr>
          <a:xfrm>
            <a:off x="1234440" y="4453128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7B3C7"/>
                </a:solidFill>
              </a:rPr>
              <a:t>vforge_product_ad_style</a:t>
            </a:r>
            <a:endParaRPr lang="en-US" sz="940" dirty="0"/>
          </a:p>
        </p:txBody>
      </p:sp>
      <p:sp>
        <p:nvSpPr>
          <p:cNvPr id="20" name="Text 17">
            <a:hlinkClick r:id="rId2" tooltip="Dataset link"/>
          </p:cNvPr>
          <p:cNvSpPr/>
          <p:nvPr/>
        </p:nvSpPr>
        <p:spPr>
          <a:xfrm>
            <a:off x="1234440" y="49651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2" invalidUrl="" action="" tgtFrame="" tooltip="Dataset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link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6309360" y="1325880"/>
            <a:ext cx="4937760" cy="4251960"/>
          </a:xfrm>
          <a:prstGeom prst="roundRect">
            <a:avLst>
              <a:gd name="adj" fmla="val 1720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20840" y="1691640"/>
            <a:ext cx="1783080" cy="210312"/>
          </a:xfrm>
          <a:prstGeom prst="roundRect">
            <a:avLst>
              <a:gd name="adj" fmla="val 26087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1732788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Egyptian Cultural LoRA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6720840" y="22677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DATASET</a:t>
            </a:r>
            <a:endParaRPr lang="en-US" sz="670" dirty="0"/>
          </a:p>
        </p:txBody>
      </p:sp>
      <p:sp>
        <p:nvSpPr>
          <p:cNvPr id="25" name="Text 22"/>
          <p:cNvSpPr/>
          <p:nvPr/>
        </p:nvSpPr>
        <p:spPr>
          <a:xfrm>
            <a:off x="6720840" y="246888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IMATOR/Ancient_Egyptians_model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20840" y="2980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USED FOR</a:t>
            </a:r>
            <a:endParaRPr lang="en-US" sz="670" dirty="0"/>
          </a:p>
        </p:txBody>
      </p:sp>
      <p:sp>
        <p:nvSpPr>
          <p:cNvPr id="27" name="Text 24"/>
          <p:cNvSpPr/>
          <p:nvPr/>
        </p:nvSpPr>
        <p:spPr>
          <a:xfrm>
            <a:off x="6720840" y="3191256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7B3C7"/>
                </a:solidFill>
              </a:rPr>
              <a:t>Egyptian cultural visual generation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6720840" y="3611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OUTPUT LORA FILE</a:t>
            </a:r>
            <a:endParaRPr lang="en-US" sz="670" dirty="0"/>
          </a:p>
        </p:txBody>
      </p:sp>
      <p:sp>
        <p:nvSpPr>
          <p:cNvPr id="29" name="Text 26"/>
          <p:cNvSpPr/>
          <p:nvPr/>
        </p:nvSpPr>
        <p:spPr>
          <a:xfrm>
            <a:off x="6720840" y="3822192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</a:rPr>
              <a:t>pytorch_lora_weights_500.safetensors</a:t>
            </a:r>
            <a:endParaRPr lang="en-US" sz="940" dirty="0"/>
          </a:p>
        </p:txBody>
      </p:sp>
      <p:sp>
        <p:nvSpPr>
          <p:cNvPr id="30" name="Text 27"/>
          <p:cNvSpPr/>
          <p:nvPr/>
        </p:nvSpPr>
        <p:spPr>
          <a:xfrm>
            <a:off x="6720840" y="42428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8BDF8"/>
                </a:solidFill>
              </a:rPr>
              <a:t>TRIGGER WORD</a:t>
            </a:r>
            <a:endParaRPr lang="en-US" sz="670" dirty="0"/>
          </a:p>
        </p:txBody>
      </p:sp>
      <p:sp>
        <p:nvSpPr>
          <p:cNvPr id="31" name="Text 28"/>
          <p:cNvSpPr/>
          <p:nvPr/>
        </p:nvSpPr>
        <p:spPr>
          <a:xfrm>
            <a:off x="6720840" y="4453128"/>
            <a:ext cx="3749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7B3C7"/>
                </a:solidFill>
              </a:rPr>
              <a:t>vforge_egyptian_cultural_style</a:t>
            </a:r>
            <a:endParaRPr lang="en-US" sz="940" dirty="0"/>
          </a:p>
        </p:txBody>
      </p:sp>
      <p:sp>
        <p:nvSpPr>
          <p:cNvPr id="32" name="Text 29">
            <a:hlinkClick r:id="rId3" tooltip="Dataset link"/>
          </p:cNvPr>
          <p:cNvSpPr/>
          <p:nvPr/>
        </p:nvSpPr>
        <p:spPr>
          <a:xfrm>
            <a:off x="6720840" y="49651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3" invalidUrl="" action="" tgtFrame="" tooltip="Dataset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link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FINE-TUNING SETUP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LoRA Training Method &amp; Outputs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10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85800" y="123444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121A2C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55448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Training configuration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024128" y="207568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2011680"/>
            <a:ext cx="3840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Base: Stable Diffusion XL Base 1.0</a:t>
            </a:r>
            <a:endParaRPr lang="en-US" sz="1010" dirty="0"/>
          </a:p>
        </p:txBody>
      </p:sp>
      <p:sp>
        <p:nvSpPr>
          <p:cNvPr id="13" name="Shape 10"/>
          <p:cNvSpPr/>
          <p:nvPr/>
        </p:nvSpPr>
        <p:spPr>
          <a:xfrm>
            <a:off x="1024128" y="25146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450592"/>
            <a:ext cx="3840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Method: LoRA adapters instead of full model retraining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2889504"/>
            <a:ext cx="3840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Environment: Kaggle GPU</a:t>
            </a:r>
            <a:endParaRPr lang="en-US" sz="1010" dirty="0"/>
          </a:p>
        </p:txBody>
      </p:sp>
      <p:sp>
        <p:nvSpPr>
          <p:cNvPr id="17" name="Shape 14"/>
          <p:cNvSpPr/>
          <p:nvPr/>
        </p:nvSpPr>
        <p:spPr>
          <a:xfrm>
            <a:off x="1024128" y="33924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4440" y="3328416"/>
            <a:ext cx="3840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Output format: .safetensors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1024128" y="383133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3767328"/>
            <a:ext cx="3840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Demo: Gradio interface with SDXL + adapters</a:t>
            </a:r>
            <a:endParaRPr lang="en-US" sz="1010" dirty="0"/>
          </a:p>
        </p:txBody>
      </p:sp>
      <p:sp>
        <p:nvSpPr>
          <p:cNvPr id="21" name="Shape 18"/>
          <p:cNvSpPr/>
          <p:nvPr/>
        </p:nvSpPr>
        <p:spPr>
          <a:xfrm>
            <a:off x="5989320" y="12344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1554480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Adapter outputs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355080" y="2148840"/>
            <a:ext cx="4617720" cy="841248"/>
          </a:xfrm>
          <a:prstGeom prst="roundRect">
            <a:avLst>
              <a:gd name="adj" fmla="val 8696"/>
            </a:avLst>
          </a:prstGeom>
          <a:solidFill>
            <a:srgbClr val="0B16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9400" y="235915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Product Ads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321040" y="2331720"/>
            <a:ext cx="2103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7B3C7"/>
                </a:solidFill>
              </a:rPr>
              <a:t>product_ads_lora_300.safetensors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9098280" y="2633472"/>
            <a:ext cx="1051560" cy="210312"/>
          </a:xfrm>
          <a:prstGeom prst="roundRect">
            <a:avLst>
              <a:gd name="adj" fmla="val 26087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0" y="267462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weight 0.45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6355080" y="3291840"/>
            <a:ext cx="4617720" cy="841248"/>
          </a:xfrm>
          <a:prstGeom prst="roundRect">
            <a:avLst>
              <a:gd name="adj" fmla="val 8696"/>
            </a:avLst>
          </a:prstGeom>
          <a:solidFill>
            <a:srgbClr val="0B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29400" y="3502152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Egyptian Cultural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321040" y="3474720"/>
            <a:ext cx="2103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7B3C7"/>
                </a:solidFill>
              </a:rPr>
              <a:t>pytorch_lora_weights_500.safetensors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9098280" y="3776472"/>
            <a:ext cx="1051560" cy="210312"/>
          </a:xfrm>
          <a:prstGeom prst="roundRect">
            <a:avLst>
              <a:gd name="adj" fmla="val 26087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0" y="381762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111F"/>
                </a:solidFill>
              </a:rPr>
              <a:t>weight 0.75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6400800" y="4663440"/>
            <a:ext cx="43891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Why LoRA? It keeps the base model intact while adding lightweight trainable style adapters.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IMPLEMENTATION PATH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From Notebook Experiments to Working Demo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11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822960" y="132588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1472184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55905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389888" y="1481328"/>
            <a:ext cx="4050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Notebook outputs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89888" y="1709928"/>
            <a:ext cx="4050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Text-to-Image, Image-to-Image, and Inpainting were first tested separately.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6309360" y="132588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9088" y="1472184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155905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2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876288" y="1481328"/>
            <a:ext cx="4050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LoRA packages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76288" y="1709928"/>
            <a:ext cx="4050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Product Ads and Egyptian Cultural LoRA adapters were exported as safetensors.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822960" y="333756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2688" y="348386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357073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3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389888" y="3493008"/>
            <a:ext cx="4050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Local web attempt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89888" y="3721608"/>
            <a:ext cx="4050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React + FastAPI validated UI, gallery, dashboard, and database flow using mock mode.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6309360" y="333756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0D17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19088" y="348386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19088" y="357073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11F"/>
                </a:solidFill>
              </a:rPr>
              <a:t>4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6876288" y="3493008"/>
            <a:ext cx="4050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Kaggle Gradio demo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76288" y="3721608"/>
            <a:ext cx="4050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7B3C7"/>
                </a:solidFill>
              </a:rPr>
              <a:t>Final real AI testing moved to Kaggle GPU to avoid local memory/time issues.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1051560" y="5513832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0B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25880" y="5687568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Practical decision: Gradio was kept for final testing because it gives a direct shareable demo link and reduces deployment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FINAL DEMO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Gradio Interface Components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12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40080" y="1078992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User Controls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005840" y="19659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Mode tabs: text2img / img2img / inpaint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1005840" y="24231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359152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Domain dropdown: base / product / cultural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1005840" y="28803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Prompt and negative prompt fields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1005840" y="33375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3273552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Seed, steps, guidance, size, strength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4526280" y="1078992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AI Backend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892040" y="19659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93208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SDXL pipeline loading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4892040" y="24231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93208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LoRA adapter switching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892040" y="28803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93208" y="2816352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CUDA execution on Kaggle GPU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4892040" y="33375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93208" y="3273552"/>
            <a:ext cx="2468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Memory cleanup between tests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8046720" y="107899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6676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Outputs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8412480" y="19659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13648" y="1901952"/>
            <a:ext cx="2606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Preview generated image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8412480" y="24231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13648" y="2359152"/>
            <a:ext cx="2606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Final prompt display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8412480" y="28803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13648" y="2816352"/>
            <a:ext cx="2606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Status with LoRA active info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8412480" y="33375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13648" y="3273552"/>
            <a:ext cx="2606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AFC"/>
                </a:solidFill>
              </a:rPr>
              <a:t>Gallery with saved outputs</a:t>
            </a:r>
            <a:endParaRPr lang="en-US" sz="930" dirty="0"/>
          </a:p>
        </p:txBody>
      </p:sp>
      <p:pic>
        <p:nvPicPr>
          <p:cNvPr id="39" name="Image 1" descr="/mnt/data/visualforge_icon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343400"/>
            <a:ext cx="56692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TESTING PLAN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Test Matrix for Final Demo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13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731520" y="1097280"/>
            <a:ext cx="10744200" cy="4892040"/>
          </a:xfrm>
          <a:prstGeom prst="roundRect">
            <a:avLst>
              <a:gd name="adj" fmla="val 1495"/>
            </a:avLst>
          </a:prstGeom>
          <a:solidFill>
            <a:srgbClr val="121A2C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508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Test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377440" y="15087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Mode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892040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Domain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406640" y="1508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Expected result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24128" y="19751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1947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377440" y="1947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Text-to-Image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92040" y="19476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General / Base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406640" y="1947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Base SDXL image generation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024128" y="25968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25694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377440" y="25694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Text-to-Image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92040" y="25694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Product Ads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406640" y="25694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Product Ads LoRA active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24128" y="32186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70432" y="31912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377440" y="3191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Text-to-Image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92040" y="319125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Egyptian Cultural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06640" y="31912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Egyptian Cultural LoRA active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024128" y="38404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70432" y="3813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377440" y="38130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Image-to-Image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892040" y="38130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Product Ads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406640" y="3813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Uploaded image transformed into ad style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024128" y="44622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70432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5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377440" y="44348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Inpainting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892040" y="44348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Egyptian Cultural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406640" y="4434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B3C7"/>
                </a:solidFill>
              </a:rPr>
              <a:t>Masked region replaced with cultural visual details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051560" y="5349240"/>
            <a:ext cx="10104120" cy="384048"/>
          </a:xfrm>
          <a:prstGeom prst="roundRect">
            <a:avLst>
              <a:gd name="adj" fmla="val 19048"/>
            </a:avLst>
          </a:prstGeom>
          <a:solidFill>
            <a:srgbClr val="0B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325880" y="5468112"/>
            <a:ext cx="9555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BDF8"/>
                </a:solidFill>
              </a:rPr>
              <a:t>Each output is saved with metadata: mode, domain, seed, steps, guidance, size, and LoRA status.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FINAL VALIDATION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Results &amp; What Was Delivered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14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777240" y="1417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3272" y="174650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Working Gradio demo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80160" y="1984248"/>
            <a:ext cx="4114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Shareable testing interface for final demo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77724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33272" y="31638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06324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Real SDXL generation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280160" y="3401568"/>
            <a:ext cx="4114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Text-to-image, img2img, and inpainting pipelines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263640" y="1417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19672" y="1746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LoRA integration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66560" y="1984248"/>
            <a:ext cx="4114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Product Ads and Egyptian Cultural adapters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26364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9672" y="316382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306324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Saved gallery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66560" y="3401568"/>
            <a:ext cx="4114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7B3C7"/>
                </a:solidFill>
              </a:rPr>
              <a:t>Generated outputs and metadata stored in working directory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1097280" y="47091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0B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25880" y="4992624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The project moved from a general AI idea into a tested, domain-aware visual content generation system.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B"/>
          </a:solidFill>
          <a:ln w="12700">
            <a:solidFill>
              <a:srgbClr val="070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9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8BDF8"/>
                </a:solidFill>
              </a:rPr>
              <a:t>NEXT STEPS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11480" y="51206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Conclusion, Future Work &amp; References</a:t>
            </a:r>
            <a:endParaRPr lang="en-US" sz="2100" dirty="0"/>
          </a:p>
        </p:txBody>
      </p:sp>
      <p:pic>
        <p:nvPicPr>
          <p:cNvPr id="6" name="Image 0" descr="/mnt/data/visualforge_icon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246888"/>
            <a:ext cx="292608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</a:rPr>
              <a:t>15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63825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VisualForge AI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731520" y="109728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97280" y="19659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1901952"/>
            <a:ext cx="4069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VisualForge AI demonstrates a complete AI visual workflow.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1097280" y="24231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2359152"/>
            <a:ext cx="4069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SDXL is used as the base generative model.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1097280" y="28803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98448" y="2816352"/>
            <a:ext cx="4069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LoRA adapters specialize output for selected domains.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1097280" y="33375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3273552"/>
            <a:ext cx="4069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Gradio provides a practical demo interface for testing.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263640" y="109728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121A2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629400" y="19659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30568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Permanent cloud/GPU deployment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6629400" y="24231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0568" y="2359152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Reconnect with full React + FastAPI web interface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629400" y="28803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30568" y="2816352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Add authentication and database-backed history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6629400" y="333756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30568" y="3273552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Train more specialized visual domains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1005840" y="5779008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0B1628"/>
          </a:solidFill>
          <a:ln w="12700">
            <a:solidFill>
              <a:srgbClr val="26364F"/>
            </a:solidFill>
            <a:prstDash val="solid"/>
          </a:ln>
        </p:spPr>
      </p:sp>
      <p:sp>
        <p:nvSpPr>
          <p:cNvPr id="30" name="Text 27">
            <a:hlinkClick r:id="rId2" tooltip="SDXL Base Model"/>
          </p:cNvPr>
          <p:cNvSpPr/>
          <p:nvPr/>
        </p:nvSpPr>
        <p:spPr>
          <a:xfrm>
            <a:off x="1234440" y="59710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2" invalidUrl="" action="" tgtFrame="" tooltip="SDXL Base Mode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SDXL Base Model</a:t>
            </a:r>
            <a:endParaRPr lang="en-US" sz="720" dirty="0"/>
          </a:p>
        </p:txBody>
      </p:sp>
      <p:sp>
        <p:nvSpPr>
          <p:cNvPr id="31" name="Text 28">
            <a:hlinkClick r:id="rId3" tooltip="Diffusers SDXL Docs"/>
          </p:cNvPr>
          <p:cNvSpPr/>
          <p:nvPr/>
        </p:nvSpPr>
        <p:spPr>
          <a:xfrm>
            <a:off x="2788920" y="597103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3" invalidUrl="" action="" tgtFrame="" tooltip="Diffusers SDXL Doc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Diffusers SDXL Docs</a:t>
            </a:r>
            <a:endParaRPr lang="en-US" sz="720" dirty="0"/>
          </a:p>
        </p:txBody>
      </p:sp>
      <p:sp>
        <p:nvSpPr>
          <p:cNvPr id="32" name="Text 29">
            <a:hlinkClick r:id="rId4" tooltip="LoRA Training Docs"/>
          </p:cNvPr>
          <p:cNvSpPr/>
          <p:nvPr/>
        </p:nvSpPr>
        <p:spPr>
          <a:xfrm>
            <a:off x="4754880" y="5971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4" invalidUrl="" action="" tgtFrame="" tooltip="LoRA Training Doc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LoRA Training Docs</a:t>
            </a:r>
            <a:endParaRPr lang="en-US" sz="720" dirty="0"/>
          </a:p>
        </p:txBody>
      </p:sp>
      <p:sp>
        <p:nvSpPr>
          <p:cNvPr id="33" name="Text 30">
            <a:hlinkClick r:id="rId5" tooltip="Product Dataset"/>
          </p:cNvPr>
          <p:cNvSpPr/>
          <p:nvPr/>
        </p:nvSpPr>
        <p:spPr>
          <a:xfrm>
            <a:off x="6446520" y="5971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5" invalidUrl="" action="" tgtFrame="" tooltip="Product Datas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Dataset</a:t>
            </a:r>
            <a:endParaRPr lang="en-US" sz="720" dirty="0"/>
          </a:p>
        </p:txBody>
      </p:sp>
      <p:sp>
        <p:nvSpPr>
          <p:cNvPr id="34" name="Text 31">
            <a:hlinkClick r:id="rId6" tooltip="Egyptian Dataset"/>
          </p:cNvPr>
          <p:cNvSpPr/>
          <p:nvPr/>
        </p:nvSpPr>
        <p:spPr>
          <a:xfrm>
            <a:off x="8183880" y="59710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u="sng" dirty="0">
                <a:solidFill>
                  <a:srgbClr val="38BDF8"/>
                </a:solidFill>
                <a:hlinkClick r:id="rId6" invalidUrl="" action="" tgtFrame="" tooltip="Egyptian Datas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Egyptian Dataset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VisualForge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VisualForge AI</dc:title>
  <dc:subject>Academic presentation deck</dc:subject>
  <dc:creator>OpenAI</dc:creator>
  <cp:lastModifiedBy>OpenAI</cp:lastModifiedBy>
  <cp:revision>1</cp:revision>
  <dcterms:created xsi:type="dcterms:W3CDTF">2026-07-10T12:18:31Z</dcterms:created>
  <dcterms:modified xsi:type="dcterms:W3CDTF">2026-07-10T12:18:31Z</dcterms:modified>
</cp:coreProperties>
</file>